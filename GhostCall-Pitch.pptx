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DF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0000" y="228600"/>
            <a:ext cx="504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66700"/>
            <a:ext cx="37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GC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0400" y="254000"/>
            <a:ext cx="203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Plus Jakarta Sans"/>
              </a:rPr>
              <a:t>ghostcall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1778000"/>
            <a:ext cx="11192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111111"/>
                </a:solidFill>
                <a:latin typeface="Plus Jakarta Sans"/>
              </a:rPr>
              <a:t>GHOSTCALL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000" y="3683000"/>
            <a:ext cx="1119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1111"/>
                </a:solidFill>
                <a:latin typeface="Plus Jakarta Sans"/>
              </a:rPr>
              <a:t>the call that never happened.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324600"/>
            <a:ext cx="1119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EDFCB"/>
                </a:solidFill>
                <a:latin typeface="Plus Jakarta Sans"/>
              </a:rPr>
              <a:t>NOISE_XX  ·  TOR V3  ·  ERC-5564  ·  STRK20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D5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02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324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19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01 /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Every private app betrays you.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3327400"/>
            <a:ext cx="2645600" cy="1473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00" y="36830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800" y="4318000"/>
            <a:ext cx="2036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Plus Jakarta Sans"/>
              </a:rPr>
              <a:t>TURN relay logs both IPs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48800" y="3327400"/>
            <a:ext cx="2645600" cy="1473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3600" y="36830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WhatsApp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3600" y="4318000"/>
            <a:ext cx="2036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Plus Jakarta Sans"/>
              </a:rPr>
              <a:t>Metadata retained indefinitely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7600" y="3327400"/>
            <a:ext cx="2645600" cy="1473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2400" y="36830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WebRTC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2400" y="4318000"/>
            <a:ext cx="2036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Plus Jakarta Sans"/>
              </a:rPr>
              <a:t>STUN exposes IP via ICE candidates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6400" y="3327400"/>
            <a:ext cx="2645600" cy="1473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1200" y="36830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Zoom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1200" y="4318000"/>
            <a:ext cx="2036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Plus Jakarta Sans"/>
              </a:rPr>
              <a:t>Broad metadata collection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03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570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4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02 /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Zero trust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000" y="1752600"/>
            <a:ext cx="11192000" cy="77046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200" y="2048933"/>
            <a:ext cx="2671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200" y="2048933"/>
            <a:ext cx="173833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533" y="2048933"/>
            <a:ext cx="220466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199" y="2048933"/>
            <a:ext cx="173833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WIRE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60332" y="1752600"/>
            <a:ext cx="2331668" cy="77046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6532" y="2048933"/>
            <a:ext cx="22046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lus Jakarta Sans"/>
              </a:rPr>
              <a:t>GHOSTCALL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2523066"/>
            <a:ext cx="11192000" cy="770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200" y="2806699"/>
            <a:ext cx="267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</a:rPr>
              <a:t>Hidden 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4200" y="2806699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9533" y="2806699"/>
            <a:ext cx="2204666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199" y="2806699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60332" y="2523066"/>
            <a:ext cx="2331668" cy="77046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6532" y="2806699"/>
            <a:ext cx="2204668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Plus Jakarta Sans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000" y="3293532"/>
            <a:ext cx="11192000" cy="77046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200" y="3577165"/>
            <a:ext cx="267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</a:rPr>
              <a:t>No Relay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4200" y="3577165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9533" y="3577165"/>
            <a:ext cx="2204666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199" y="3577165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60332" y="3293532"/>
            <a:ext cx="2331668" cy="77046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36532" y="3577165"/>
            <a:ext cx="2204668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Plus Jakarta Sans"/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0000" y="4063998"/>
            <a:ext cx="11192000" cy="770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200" y="4347631"/>
            <a:ext cx="267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</a:rPr>
              <a:t>Stealth Identity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4200" y="4347631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33" y="4347631"/>
            <a:ext cx="2204666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199" y="4347631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Plus Jakarta Sans"/>
              </a:rPr>
              <a:t>PARTIAL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60332" y="4063998"/>
            <a:ext cx="2331668" cy="77046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36532" y="4347631"/>
            <a:ext cx="2204668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Plus Jakarta Sans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0000" y="4834464"/>
            <a:ext cx="11192000" cy="77046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200" y="5118097"/>
            <a:ext cx="267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</a:rPr>
              <a:t>Private Payments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4200" y="5118097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33" y="5118097"/>
            <a:ext cx="2204666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199" y="5118097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Plus Jakarta Sans"/>
              </a:rPr>
              <a:t>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60332" y="4834464"/>
            <a:ext cx="2331668" cy="77046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36532" y="5118097"/>
            <a:ext cx="2204668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Plus Jakarta Sans"/>
              </a:rP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0000" y="5604930"/>
            <a:ext cx="11192000" cy="770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200" y="5888563"/>
            <a:ext cx="267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</a:rPr>
              <a:t>No Registration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74200" y="5888563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33" y="5888563"/>
            <a:ext cx="2204666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71199" y="5888563"/>
            <a:ext cx="1738333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3946"/>
                </a:solidFill>
                <a:latin typeface="Plus Jakarta Sans"/>
              </a:rPr>
              <a:t>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60332" y="5604930"/>
            <a:ext cx="2331668" cy="77046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36532" y="5888563"/>
            <a:ext cx="2204668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6A34A"/>
                </a:solidFill>
                <a:latin typeface="Plus Jakarta Sans"/>
              </a:rPr>
              <a:t>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DF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04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734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60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03 /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4 layers. Zero compromise.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3124200"/>
            <a:ext cx="2645600" cy="1879600"/>
          </a:xfrm>
          <a:prstGeom prst="roundRect">
            <a:avLst>
              <a:gd name="adj" fmla="val 18000"/>
            </a:avLst>
          </a:prstGeom>
          <a:solidFill>
            <a:srgbClr val="F7D5D2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800" y="3479800"/>
            <a:ext cx="4826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600" y="3517900"/>
            <a:ext cx="40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800" y="3886200"/>
            <a:ext cx="2036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TOR CIRCUIT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800" y="44196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Hidden IP routing via onion 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48800" y="3124200"/>
            <a:ext cx="2645600" cy="18796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3600" y="3479800"/>
            <a:ext cx="4826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4400" y="3517900"/>
            <a:ext cx="40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3600" y="3886200"/>
            <a:ext cx="2036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NOISE_XX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3600" y="44196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X25519 + ChaCha20-Poly1305 encryption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7600" y="3124200"/>
            <a:ext cx="2645600" cy="1879600"/>
          </a:xfrm>
          <a:prstGeom prst="roundRect">
            <a:avLst>
              <a:gd name="adj" fmla="val 18000"/>
            </a:avLst>
          </a:prstGeom>
          <a:solidFill>
            <a:srgbClr val="F7D5D2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02400" y="3479800"/>
            <a:ext cx="4826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3200" y="3517900"/>
            <a:ext cx="40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2400" y="3886200"/>
            <a:ext cx="2036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ERC-5564 STEALTH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2400" y="44196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On-chain anonymous identity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6400" y="3124200"/>
            <a:ext cx="2645600" cy="18796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51200" y="3479800"/>
            <a:ext cx="4826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2000" y="3517900"/>
            <a:ext cx="40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1200" y="3886200"/>
            <a:ext cx="2036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  <a:latin typeface="Plus Jakarta Sans"/>
              </a:rPr>
              <a:t>STRK20 POOL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1200" y="44196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Shielded payment settlement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D5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05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324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19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04 /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No relay operator. No IP exposure.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2959100"/>
            <a:ext cx="5443600" cy="2209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48400" y="2959100"/>
            <a:ext cx="5443600" cy="22098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800" y="33147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5A5A"/>
                </a:solidFill>
                <a:latin typeface="Plus Jakarta Sans"/>
              </a:rPr>
              <a:t>TRADITIONAL VOIP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3200" y="33147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Plus Jakarta Sans"/>
              </a:rPr>
              <a:t>GHOSTCALL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800" y="3721100"/>
            <a:ext cx="483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3946"/>
                </a:solidFill>
                <a:latin typeface="Plus Jakarta Sans"/>
              </a:rPr>
              <a:t>- Server sees both 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800" y="4102100"/>
            <a:ext cx="483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3946"/>
                </a:solidFill>
                <a:latin typeface="Plus Jakarta Sans"/>
              </a:rPr>
              <a:t>- Single point of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800" y="4483100"/>
            <a:ext cx="483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3946"/>
                </a:solidFill>
                <a:latin typeface="Plus Jakarta Sans"/>
              </a:rPr>
              <a:t>- Operator can be subpoenaed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200" y="3721100"/>
            <a:ext cx="483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A34A"/>
                </a:solidFill>
                <a:latin typeface="Plus Jakarta Sans"/>
              </a:rPr>
              <a:t>+ Tor hides both endpoints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4102100"/>
            <a:ext cx="483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A34A"/>
                </a:solidFill>
                <a:latin typeface="Plus Jakarta Sans"/>
              </a:rPr>
              <a:t>+ No relay to subpoena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200" y="4483100"/>
            <a:ext cx="483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6A34A"/>
                </a:solidFill>
                <a:latin typeface="Plus Jakarta Sans"/>
              </a:rPr>
              <a:t>+ Decentralized by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06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816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68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05 / FILE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Files travel through Tor too.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2952750"/>
            <a:ext cx="3595200" cy="14097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00" y="3308350"/>
            <a:ext cx="298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lus Jakarta Sans"/>
              </a:rPr>
              <a:t>NOISE_XX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800" y="3790950"/>
            <a:ext cx="2985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End-to-end encrypted over same circuit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8400" y="2952750"/>
            <a:ext cx="3595200" cy="14097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3200" y="3308350"/>
            <a:ext cx="298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lus Jakarta Sans"/>
              </a:rPr>
              <a:t>64 KB CHUNKS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3200" y="3790950"/>
            <a:ext cx="2985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Streamed over Tor onion connection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6800" y="2952750"/>
            <a:ext cx="3595200" cy="14097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1600" y="3308350"/>
            <a:ext cx="29856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lus Jakarta Sans"/>
              </a:rPr>
              <a:t>50 MB LIMIT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1600" y="3790950"/>
            <a:ext cx="2985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Accept / reject before transfer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57500" y="4616450"/>
            <a:ext cx="1651000" cy="558800"/>
          </a:xfrm>
          <a:prstGeom prst="roundRect">
            <a:avLst>
              <a:gd name="adj" fmla="val 18000"/>
            </a:avLst>
          </a:prstGeom>
          <a:solidFill>
            <a:srgbClr val="FEDFCB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9100" y="4794250"/>
            <a:ext cx="1473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Plus Jakarta Sans"/>
              </a:rPr>
              <a:t>PICK 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0900" y="4781550"/>
            <a:ext cx="457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CA3AF"/>
                </a:solidFill>
                <a:latin typeface="Plus Jakarta Sans"/>
              </a:rPr>
              <a:t>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70500" y="4616450"/>
            <a:ext cx="1651000" cy="558800"/>
          </a:xfrm>
          <a:prstGeom prst="roundRect">
            <a:avLst>
              <a:gd name="adj" fmla="val 18000"/>
            </a:avLst>
          </a:prstGeom>
          <a:solidFill>
            <a:srgbClr val="F7D5D2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72100" y="4794250"/>
            <a:ext cx="1473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Plus Jakarta Sans"/>
              </a:rPr>
              <a:t>TOR CIRCUIT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73900" y="4781550"/>
            <a:ext cx="457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CA3AF"/>
                </a:solidFill>
                <a:latin typeface="Plus Jakarta Sans"/>
              </a:rPr>
              <a:t>-&gt;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83500" y="4616450"/>
            <a:ext cx="1651000" cy="5588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85100" y="4794250"/>
            <a:ext cx="14732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11111"/>
                </a:solidFill>
                <a:latin typeface="Plus Jakarta Sans"/>
              </a:rPr>
              <a:t>RECEIVER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DF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07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406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27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06 / ON-CHAIN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Live on Mainnet. Verifiable on-chain.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3022600"/>
            <a:ext cx="5443600" cy="2082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48400" y="3022600"/>
            <a:ext cx="5443600" cy="2082800"/>
          </a:xfrm>
          <a:prstGeom prst="roundRect">
            <a:avLst>
              <a:gd name="adj" fmla="val 18000"/>
            </a:avLst>
          </a:prstGeom>
          <a:solidFill>
            <a:srgbClr val="F7D5D2"/>
          </a:solidFill>
          <a:ln w="254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800" y="3378200"/>
            <a:ext cx="4834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Plus Jakarta Sans"/>
              </a:rPr>
              <a:t>CALL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800" y="39370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ourier New"/>
              </a:rPr>
              <a:t>0x474eafba0ef66427b796890bffc7...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800" y="43434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Records call commitments on-chain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800" y="47498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Plus Jakarta Sans"/>
              </a:rPr>
              <a:t>MAINNET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3200" y="3378200"/>
            <a:ext cx="483400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Plus Jakarta Sans"/>
              </a:rPr>
              <a:t>STEALTH 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200" y="39370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Courier New"/>
              </a:rPr>
              <a:t>ERC-5564 stealth addresses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43434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STRK20 shielded payments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3200" y="4749800"/>
            <a:ext cx="4834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Plus Jakarta Sans"/>
              </a:rPr>
              <a:t>SEPOLIA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C6D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08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734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60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07 / 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6 mainnet transactions.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2133600"/>
            <a:ext cx="11192000" cy="55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8600" y="2235200"/>
            <a:ext cx="355600" cy="3556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000" y="2286000"/>
            <a:ext cx="304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2000" y="2298700"/>
            <a:ext cx="266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</a:rPr>
              <a:t>Deploy CallLog 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1400" y="2324100"/>
            <a:ext cx="738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ourier New"/>
              </a:rPr>
              <a:t>0x2a4bc1ffa34e8c78c0e9ef18b080054b1313c9f57ff72e8d87eee1ec3518c70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000" y="2794000"/>
            <a:ext cx="11192000" cy="558800"/>
          </a:xfrm>
          <a:prstGeom prst="roundRect">
            <a:avLst>
              <a:gd name="adj" fmla="val 18000"/>
            </a:avLst>
          </a:prstGeom>
          <a:solidFill>
            <a:srgbClr val="F0F0F0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8600" y="2895600"/>
            <a:ext cx="355600" cy="3556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000" y="2946400"/>
            <a:ext cx="304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2000" y="2959100"/>
            <a:ext cx="266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</a:rPr>
              <a:t>Deploy CallLog contract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1400" y="2984500"/>
            <a:ext cx="738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ourier New"/>
              </a:rPr>
              <a:t>0x49944b36c6eaf03382ac7dcaf822692ea23ff78b5df868b136e4fac98f98128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0000" y="3454400"/>
            <a:ext cx="11192000" cy="55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8600" y="3556000"/>
            <a:ext cx="355600" cy="3556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000" y="3606800"/>
            <a:ext cx="304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2000" y="3619500"/>
            <a:ext cx="266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</a:rPr>
              <a:t>Register handle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81400" y="3644900"/>
            <a:ext cx="738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ourier New"/>
              </a:rPr>
              <a:t>0x6c7230e3000ca9ccc0f5ef7b45cefe8832d9bd8b4ec89f5100c4340e0fbe165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0000" y="4114800"/>
            <a:ext cx="11192000" cy="558800"/>
          </a:xfrm>
          <a:prstGeom prst="roundRect">
            <a:avLst>
              <a:gd name="adj" fmla="val 18000"/>
            </a:avLst>
          </a:prstGeom>
          <a:solidFill>
            <a:srgbClr val="F0F0F0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8600" y="4216400"/>
            <a:ext cx="355600" cy="3556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000" y="4267200"/>
            <a:ext cx="304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62000" y="4279900"/>
            <a:ext cx="266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</a:rPr>
              <a:t>Commit call #1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81400" y="4305300"/>
            <a:ext cx="738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ourier New"/>
              </a:rPr>
              <a:t>0x6a9a862a52296b774f605a6c2e63ccc27a6594f560e95529a86ead30f24f000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0000" y="4775200"/>
            <a:ext cx="11192000" cy="558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28600" y="4876800"/>
            <a:ext cx="355600" cy="3556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000" y="4927600"/>
            <a:ext cx="304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62000" y="4940300"/>
            <a:ext cx="266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</a:rPr>
              <a:t>Commit call #2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81400" y="4965700"/>
            <a:ext cx="738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ourier New"/>
              </a:rPr>
              <a:t>0x19bf52df1ba0a00ec76f511d8700bb5671828c5870c8a2327ffea3a5a626e28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0000" y="5435600"/>
            <a:ext cx="11192000" cy="558800"/>
          </a:xfrm>
          <a:prstGeom prst="roundRect">
            <a:avLst>
              <a:gd name="adj" fmla="val 18000"/>
            </a:avLst>
          </a:prstGeom>
          <a:solidFill>
            <a:srgbClr val="F0F0F0"/>
          </a:solidFill>
          <a:ln w="1016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28600" y="5537200"/>
            <a:ext cx="355600" cy="3556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4000" y="5588000"/>
            <a:ext cx="304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2000" y="5600700"/>
            <a:ext cx="2667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Plus Jakarta Sans"/>
              </a:rPr>
              <a:t>Commit call #3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81400" y="5626100"/>
            <a:ext cx="738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Courier New"/>
              </a:rPr>
              <a:t>0x1a1610e6174d980bc6bcb5956ff0b225f178b32a89449de50214a5388f5cdf1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D5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D1B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290000"/>
            <a:ext cx="90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CA3AF"/>
                </a:solidFill>
                <a:latin typeface="Plus Jakarta Sans"/>
              </a:rPr>
              <a:t>09 / 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0000" y="254000"/>
            <a:ext cx="1570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92100"/>
            <a:ext cx="14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08 / GUARANTEES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711200"/>
            <a:ext cx="11192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11111"/>
                </a:solidFill>
                <a:latin typeface="Plus Jakarta Sans"/>
              </a:rPr>
              <a:t>What an attacker sees: nothing.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0000" y="3136900"/>
            <a:ext cx="2645600" cy="18542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800" y="3492500"/>
            <a:ext cx="406400" cy="304800"/>
          </a:xfrm>
          <a:prstGeom prst="roundRect">
            <a:avLst>
              <a:gd name="adj" fmla="val 18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00" y="3543300"/>
            <a:ext cx="35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lus Jakarta Sans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800" y="39243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lus Jakarta Sans"/>
              </a:rPr>
              <a:t>IP ADDRESS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800" y="44323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Hidden by Tor v3 onion services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48800" y="3136900"/>
            <a:ext cx="2645600" cy="18542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53600" y="3492500"/>
            <a:ext cx="406400" cy="304800"/>
          </a:xfrm>
          <a:prstGeom prst="roundRect">
            <a:avLst>
              <a:gd name="adj" fmla="val 18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9000" y="3543300"/>
            <a:ext cx="35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lus Jakarta Sans"/>
              </a:rP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3600" y="39243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lus Jakarta Sans"/>
              </a:rPr>
              <a:t>CALL METADATA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3600" y="44323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No server logs. No relay operator.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7600" y="3136900"/>
            <a:ext cx="2645600" cy="18542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02400" y="3492500"/>
            <a:ext cx="406400" cy="304800"/>
          </a:xfrm>
          <a:prstGeom prst="roundRect">
            <a:avLst>
              <a:gd name="adj" fmla="val 18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7800" y="3543300"/>
            <a:ext cx="35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lus Jakarta Sans"/>
              </a:rPr>
              <a:t>OK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2400" y="39243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lus Jakarta Sans"/>
              </a:rPr>
              <a:t>IDENTITY 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2400" y="44323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ERC-5564 stealth breaks on-chain linkage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6400" y="3136900"/>
            <a:ext cx="2645600" cy="1854200"/>
          </a:xfrm>
          <a:prstGeom prst="roundRect">
            <a:avLst>
              <a:gd name="adj" fmla="val 18000"/>
            </a:avLst>
          </a:prstGeom>
          <a:solidFill>
            <a:srgbClr val="EAF8D1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51200" y="3492500"/>
            <a:ext cx="406400" cy="304800"/>
          </a:xfrm>
          <a:prstGeom prst="roundRect">
            <a:avLst>
              <a:gd name="adj" fmla="val 18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6600" y="3543300"/>
            <a:ext cx="35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Plus Jakarta Sans"/>
              </a:rPr>
              <a:t>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1200" y="3924300"/>
            <a:ext cx="203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lus Jakarta Sans"/>
              </a:rPr>
              <a:t>PAYMENT TRAIL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1200" y="4432300"/>
            <a:ext cx="203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lus Jakarta Sans"/>
              </a:rPr>
              <a:t>STRK20 pool severs sender-recipient 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DFC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1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5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9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72000" y="16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1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72000" y="50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1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5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9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3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72000" y="84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1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5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9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72000" y="1180000"/>
            <a:ext cx="72000" cy="72000"/>
          </a:xfrm>
          <a:prstGeom prst="ellipse">
            <a:avLst/>
          </a:prstGeom>
          <a:solidFill>
            <a:srgbClr val="D7B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0000" y="228600"/>
            <a:ext cx="504000" cy="279400"/>
          </a:xfrm>
          <a:prstGeom prst="roundRect">
            <a:avLst>
              <a:gd name="adj" fmla="val 18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00" y="266700"/>
            <a:ext cx="377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lus Jakarta Sans"/>
              </a:rPr>
              <a:t>GC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0400" y="254000"/>
            <a:ext cx="203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Plus Jakarta Sans"/>
              </a:rPr>
              <a:t>ghostcall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1651000"/>
            <a:ext cx="111920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11111"/>
                </a:solidFill>
                <a:latin typeface="Plus Jakarta Sans"/>
              </a:rPr>
              <a:t>make a call
no one can prove
happened.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159500"/>
            <a:ext cx="12192000" cy="6985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00" y="6324600"/>
            <a:ext cx="1119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EDFCB"/>
                </a:solidFill>
                <a:latin typeface="Plus Jakarta Sans"/>
              </a:rPr>
              <a:t>ghostcall  ·  sepolia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